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B18BC3-AFEB-4074-A193-C9A366ED2646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A58F7E1-FBE8-4030-ACE7-C65E070F43AE}">
      <dgm:prSet/>
      <dgm:spPr/>
      <dgm:t>
        <a:bodyPr/>
        <a:lstStyle/>
        <a:p>
          <a:r>
            <a:rPr lang="en-CA"/>
            <a:t>Avg_Daily_Usage_Hours: average social media time per day (actionable).</a:t>
          </a:r>
          <a:endParaRPr lang="en-US"/>
        </a:p>
      </dgm:t>
    </dgm:pt>
    <dgm:pt modelId="{FB79A750-E711-4471-AB9D-2F4C91D46835}" type="parTrans" cxnId="{6ECB2F44-A606-4BF0-99EE-0C3E67FDFB9C}">
      <dgm:prSet/>
      <dgm:spPr/>
      <dgm:t>
        <a:bodyPr/>
        <a:lstStyle/>
        <a:p>
          <a:endParaRPr lang="en-US"/>
        </a:p>
      </dgm:t>
    </dgm:pt>
    <dgm:pt modelId="{E3FC5AA0-4593-4C99-860E-A62ECFA8F7EB}" type="sibTrans" cxnId="{6ECB2F44-A606-4BF0-99EE-0C3E67FDFB9C}">
      <dgm:prSet/>
      <dgm:spPr/>
      <dgm:t>
        <a:bodyPr/>
        <a:lstStyle/>
        <a:p>
          <a:endParaRPr lang="en-US"/>
        </a:p>
      </dgm:t>
    </dgm:pt>
    <dgm:pt modelId="{2273F0F0-E201-4FC5-81E0-24C36EF0F577}">
      <dgm:prSet/>
      <dgm:spPr/>
      <dgm:t>
        <a:bodyPr/>
        <a:lstStyle/>
        <a:p>
          <a:r>
            <a:rPr lang="en-CA"/>
            <a:t>Sleep_Hours_Per_Night: average nightly sleep (actionable).</a:t>
          </a:r>
          <a:endParaRPr lang="en-US"/>
        </a:p>
      </dgm:t>
    </dgm:pt>
    <dgm:pt modelId="{8C1BDAEA-0F31-4CCC-9499-D333F2CBD4DA}" type="parTrans" cxnId="{F81DE190-EEA1-42E5-8735-D08DBAB9ACC5}">
      <dgm:prSet/>
      <dgm:spPr/>
      <dgm:t>
        <a:bodyPr/>
        <a:lstStyle/>
        <a:p>
          <a:endParaRPr lang="en-US"/>
        </a:p>
      </dgm:t>
    </dgm:pt>
    <dgm:pt modelId="{2179D4DC-E304-4386-8E68-42E01F182E55}" type="sibTrans" cxnId="{F81DE190-EEA1-42E5-8735-D08DBAB9ACC5}">
      <dgm:prSet/>
      <dgm:spPr/>
      <dgm:t>
        <a:bodyPr/>
        <a:lstStyle/>
        <a:p>
          <a:endParaRPr lang="en-US"/>
        </a:p>
      </dgm:t>
    </dgm:pt>
    <dgm:pt modelId="{DC3B0DE3-EB41-493B-B651-91C725B1E567}">
      <dgm:prSet/>
      <dgm:spPr/>
      <dgm:t>
        <a:bodyPr/>
        <a:lstStyle/>
        <a:p>
          <a:r>
            <a:rPr lang="en-CA"/>
            <a:t>Addicted_Score: self-reported addiction intensity.</a:t>
          </a:r>
          <a:endParaRPr lang="en-US"/>
        </a:p>
      </dgm:t>
    </dgm:pt>
    <dgm:pt modelId="{E67D92FA-2BE2-489C-AE8A-DD9BC0A46CCB}" type="parTrans" cxnId="{F2AB9C81-537F-478D-BB3A-E5931460F01D}">
      <dgm:prSet/>
      <dgm:spPr/>
      <dgm:t>
        <a:bodyPr/>
        <a:lstStyle/>
        <a:p>
          <a:endParaRPr lang="en-US"/>
        </a:p>
      </dgm:t>
    </dgm:pt>
    <dgm:pt modelId="{0827EF7E-1A9E-4B84-A34B-F12DD2979291}" type="sibTrans" cxnId="{F2AB9C81-537F-478D-BB3A-E5931460F01D}">
      <dgm:prSet/>
      <dgm:spPr/>
      <dgm:t>
        <a:bodyPr/>
        <a:lstStyle/>
        <a:p>
          <a:endParaRPr lang="en-US"/>
        </a:p>
      </dgm:t>
    </dgm:pt>
    <dgm:pt modelId="{AE1D8B92-B7EA-47F0-BBF4-1BD93AB6E7FD}">
      <dgm:prSet/>
      <dgm:spPr/>
      <dgm:t>
        <a:bodyPr/>
        <a:lstStyle/>
        <a:p>
          <a:r>
            <a:rPr lang="en-CA"/>
            <a:t>Conflicts_Over_Social_Media: frequency/level of interpersonal conflict.</a:t>
          </a:r>
          <a:endParaRPr lang="en-US"/>
        </a:p>
      </dgm:t>
    </dgm:pt>
    <dgm:pt modelId="{587E2469-7721-4E7B-B76B-F56E8309836B}" type="parTrans" cxnId="{8C15047E-27D7-45CA-AA18-6EC27A56EEED}">
      <dgm:prSet/>
      <dgm:spPr/>
      <dgm:t>
        <a:bodyPr/>
        <a:lstStyle/>
        <a:p>
          <a:endParaRPr lang="en-US"/>
        </a:p>
      </dgm:t>
    </dgm:pt>
    <dgm:pt modelId="{F1EFD7DF-D78A-42A0-9BB4-3B683CDA52CC}" type="sibTrans" cxnId="{8C15047E-27D7-45CA-AA18-6EC27A56EEED}">
      <dgm:prSet/>
      <dgm:spPr/>
      <dgm:t>
        <a:bodyPr/>
        <a:lstStyle/>
        <a:p>
          <a:endParaRPr lang="en-US"/>
        </a:p>
      </dgm:t>
    </dgm:pt>
    <dgm:pt modelId="{C724A71D-ED39-4048-9DD8-0B584356140E}">
      <dgm:prSet/>
      <dgm:spPr/>
      <dgm:t>
        <a:bodyPr/>
        <a:lstStyle/>
        <a:p>
          <a:r>
            <a:rPr lang="en-CA"/>
            <a:t>Most_Used_Platform: primary platform category.</a:t>
          </a:r>
          <a:endParaRPr lang="en-US"/>
        </a:p>
      </dgm:t>
    </dgm:pt>
    <dgm:pt modelId="{F0A7AF6D-3BDC-4D98-89D4-0E4E39D1C3D1}" type="parTrans" cxnId="{4FD511B5-EC5B-4882-A4CB-655760178431}">
      <dgm:prSet/>
      <dgm:spPr/>
      <dgm:t>
        <a:bodyPr/>
        <a:lstStyle/>
        <a:p>
          <a:endParaRPr lang="en-US"/>
        </a:p>
      </dgm:t>
    </dgm:pt>
    <dgm:pt modelId="{3E555F5E-2D64-4384-B325-F86784BED833}" type="sibTrans" cxnId="{4FD511B5-EC5B-4882-A4CB-655760178431}">
      <dgm:prSet/>
      <dgm:spPr/>
      <dgm:t>
        <a:bodyPr/>
        <a:lstStyle/>
        <a:p>
          <a:endParaRPr lang="en-US"/>
        </a:p>
      </dgm:t>
    </dgm:pt>
    <dgm:pt modelId="{882EEB5B-3D2F-4B92-ACF1-C30ABAA66BCF}">
      <dgm:prSet/>
      <dgm:spPr/>
      <dgm:t>
        <a:bodyPr/>
        <a:lstStyle/>
        <a:p>
          <a:r>
            <a:rPr lang="en-CA"/>
            <a:t>Mental_Health_Score: prediction target.</a:t>
          </a:r>
          <a:endParaRPr lang="en-US"/>
        </a:p>
      </dgm:t>
    </dgm:pt>
    <dgm:pt modelId="{1439DB9C-083E-4BDA-A495-60486D528BDB}" type="parTrans" cxnId="{CA713FF3-5394-4BE9-B6E1-B679EE0041D8}">
      <dgm:prSet/>
      <dgm:spPr/>
      <dgm:t>
        <a:bodyPr/>
        <a:lstStyle/>
        <a:p>
          <a:endParaRPr lang="en-US"/>
        </a:p>
      </dgm:t>
    </dgm:pt>
    <dgm:pt modelId="{0AF1A5CE-9F53-4937-9B4D-8767F21B3B7B}" type="sibTrans" cxnId="{CA713FF3-5394-4BE9-B6E1-B679EE0041D8}">
      <dgm:prSet/>
      <dgm:spPr/>
      <dgm:t>
        <a:bodyPr/>
        <a:lstStyle/>
        <a:p>
          <a:endParaRPr lang="en-US"/>
        </a:p>
      </dgm:t>
    </dgm:pt>
    <dgm:pt modelId="{2F11EAA6-E577-4D3B-97DB-DF6DEDEC8C98}" type="pres">
      <dgm:prSet presAssocID="{99B18BC3-AFEB-4074-A193-C9A366ED2646}" presName="linear" presStyleCnt="0">
        <dgm:presLayoutVars>
          <dgm:animLvl val="lvl"/>
          <dgm:resizeHandles val="exact"/>
        </dgm:presLayoutVars>
      </dgm:prSet>
      <dgm:spPr/>
    </dgm:pt>
    <dgm:pt modelId="{C5CAF799-DA3D-4CA6-89C2-25470966ECE3}" type="pres">
      <dgm:prSet presAssocID="{4A58F7E1-FBE8-4030-ACE7-C65E070F43A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4462ACC-3F45-4A3E-BCC3-4FDB43DA511B}" type="pres">
      <dgm:prSet presAssocID="{E3FC5AA0-4593-4C99-860E-A62ECFA8F7EB}" presName="spacer" presStyleCnt="0"/>
      <dgm:spPr/>
    </dgm:pt>
    <dgm:pt modelId="{8A1D18D8-506C-48EF-9C85-06301FE8C97B}" type="pres">
      <dgm:prSet presAssocID="{2273F0F0-E201-4FC5-81E0-24C36EF0F57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A6E9909-BC27-4A49-97E8-FAAB2320B5F0}" type="pres">
      <dgm:prSet presAssocID="{2179D4DC-E304-4386-8E68-42E01F182E55}" presName="spacer" presStyleCnt="0"/>
      <dgm:spPr/>
    </dgm:pt>
    <dgm:pt modelId="{5CD3047F-86A8-4AFB-BCAB-7BA7EF75922C}" type="pres">
      <dgm:prSet presAssocID="{DC3B0DE3-EB41-493B-B651-91C725B1E56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9BCAD9B-A1C8-4926-89AB-25B15DD5BF8E}" type="pres">
      <dgm:prSet presAssocID="{0827EF7E-1A9E-4B84-A34B-F12DD2979291}" presName="spacer" presStyleCnt="0"/>
      <dgm:spPr/>
    </dgm:pt>
    <dgm:pt modelId="{71B67E32-1D99-40C8-AA3E-011530C096B4}" type="pres">
      <dgm:prSet presAssocID="{AE1D8B92-B7EA-47F0-BBF4-1BD93AB6E7F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677B00F-90F9-4F55-83B8-A35A7C6A536B}" type="pres">
      <dgm:prSet presAssocID="{F1EFD7DF-D78A-42A0-9BB4-3B683CDA52CC}" presName="spacer" presStyleCnt="0"/>
      <dgm:spPr/>
    </dgm:pt>
    <dgm:pt modelId="{DF907707-AF48-4C50-B938-BE322DAE4B51}" type="pres">
      <dgm:prSet presAssocID="{C724A71D-ED39-4048-9DD8-0B584356140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DEBDDDA-7D83-459F-A960-B8AAFAD9C21B}" type="pres">
      <dgm:prSet presAssocID="{3E555F5E-2D64-4384-B325-F86784BED833}" presName="spacer" presStyleCnt="0"/>
      <dgm:spPr/>
    </dgm:pt>
    <dgm:pt modelId="{BAB4930A-5453-426F-8A22-764413AFB868}" type="pres">
      <dgm:prSet presAssocID="{882EEB5B-3D2F-4B92-ACF1-C30ABAA66BC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7671F17-5B79-4547-ACAE-9C457C24636D}" type="presOf" srcId="{99B18BC3-AFEB-4074-A193-C9A366ED2646}" destId="{2F11EAA6-E577-4D3B-97DB-DF6DEDEC8C98}" srcOrd="0" destOrd="0" presId="urn:microsoft.com/office/officeart/2005/8/layout/vList2"/>
    <dgm:cxn modelId="{B11F8139-ACBC-4275-B95B-71980C92E4F8}" type="presOf" srcId="{C724A71D-ED39-4048-9DD8-0B584356140E}" destId="{DF907707-AF48-4C50-B938-BE322DAE4B51}" srcOrd="0" destOrd="0" presId="urn:microsoft.com/office/officeart/2005/8/layout/vList2"/>
    <dgm:cxn modelId="{6ECB2F44-A606-4BF0-99EE-0C3E67FDFB9C}" srcId="{99B18BC3-AFEB-4074-A193-C9A366ED2646}" destId="{4A58F7E1-FBE8-4030-ACE7-C65E070F43AE}" srcOrd="0" destOrd="0" parTransId="{FB79A750-E711-4471-AB9D-2F4C91D46835}" sibTransId="{E3FC5AA0-4593-4C99-860E-A62ECFA8F7EB}"/>
    <dgm:cxn modelId="{D67CF147-0F49-4172-9FAF-9A6D8B8FCD99}" type="presOf" srcId="{AE1D8B92-B7EA-47F0-BBF4-1BD93AB6E7FD}" destId="{71B67E32-1D99-40C8-AA3E-011530C096B4}" srcOrd="0" destOrd="0" presId="urn:microsoft.com/office/officeart/2005/8/layout/vList2"/>
    <dgm:cxn modelId="{3DBD8A6F-BB74-4173-868F-743230E5AAF4}" type="presOf" srcId="{882EEB5B-3D2F-4B92-ACF1-C30ABAA66BCF}" destId="{BAB4930A-5453-426F-8A22-764413AFB868}" srcOrd="0" destOrd="0" presId="urn:microsoft.com/office/officeart/2005/8/layout/vList2"/>
    <dgm:cxn modelId="{8C15047E-27D7-45CA-AA18-6EC27A56EEED}" srcId="{99B18BC3-AFEB-4074-A193-C9A366ED2646}" destId="{AE1D8B92-B7EA-47F0-BBF4-1BD93AB6E7FD}" srcOrd="3" destOrd="0" parTransId="{587E2469-7721-4E7B-B76B-F56E8309836B}" sibTransId="{F1EFD7DF-D78A-42A0-9BB4-3B683CDA52CC}"/>
    <dgm:cxn modelId="{F2AB9C81-537F-478D-BB3A-E5931460F01D}" srcId="{99B18BC3-AFEB-4074-A193-C9A366ED2646}" destId="{DC3B0DE3-EB41-493B-B651-91C725B1E567}" srcOrd="2" destOrd="0" parTransId="{E67D92FA-2BE2-489C-AE8A-DD9BC0A46CCB}" sibTransId="{0827EF7E-1A9E-4B84-A34B-F12DD2979291}"/>
    <dgm:cxn modelId="{F81DE190-EEA1-42E5-8735-D08DBAB9ACC5}" srcId="{99B18BC3-AFEB-4074-A193-C9A366ED2646}" destId="{2273F0F0-E201-4FC5-81E0-24C36EF0F577}" srcOrd="1" destOrd="0" parTransId="{8C1BDAEA-0F31-4CCC-9499-D333F2CBD4DA}" sibTransId="{2179D4DC-E304-4386-8E68-42E01F182E55}"/>
    <dgm:cxn modelId="{3E4F1F9E-C4A9-420B-92C7-58305B81F871}" type="presOf" srcId="{2273F0F0-E201-4FC5-81E0-24C36EF0F577}" destId="{8A1D18D8-506C-48EF-9C85-06301FE8C97B}" srcOrd="0" destOrd="0" presId="urn:microsoft.com/office/officeart/2005/8/layout/vList2"/>
    <dgm:cxn modelId="{BDD487AD-B1B3-4DDF-B206-9161ECC263A2}" type="presOf" srcId="{4A58F7E1-FBE8-4030-ACE7-C65E070F43AE}" destId="{C5CAF799-DA3D-4CA6-89C2-25470966ECE3}" srcOrd="0" destOrd="0" presId="urn:microsoft.com/office/officeart/2005/8/layout/vList2"/>
    <dgm:cxn modelId="{4FD511B5-EC5B-4882-A4CB-655760178431}" srcId="{99B18BC3-AFEB-4074-A193-C9A366ED2646}" destId="{C724A71D-ED39-4048-9DD8-0B584356140E}" srcOrd="4" destOrd="0" parTransId="{F0A7AF6D-3BDC-4D98-89D4-0E4E39D1C3D1}" sibTransId="{3E555F5E-2D64-4384-B325-F86784BED833}"/>
    <dgm:cxn modelId="{CA713FF3-5394-4BE9-B6E1-B679EE0041D8}" srcId="{99B18BC3-AFEB-4074-A193-C9A366ED2646}" destId="{882EEB5B-3D2F-4B92-ACF1-C30ABAA66BCF}" srcOrd="5" destOrd="0" parTransId="{1439DB9C-083E-4BDA-A495-60486D528BDB}" sibTransId="{0AF1A5CE-9F53-4937-9B4D-8767F21B3B7B}"/>
    <dgm:cxn modelId="{8EE782F4-C837-4E1B-9AE4-F693D7B438E1}" type="presOf" srcId="{DC3B0DE3-EB41-493B-B651-91C725B1E567}" destId="{5CD3047F-86A8-4AFB-BCAB-7BA7EF75922C}" srcOrd="0" destOrd="0" presId="urn:microsoft.com/office/officeart/2005/8/layout/vList2"/>
    <dgm:cxn modelId="{CF1DDBC4-B246-4DD7-B547-05706F1060CD}" type="presParOf" srcId="{2F11EAA6-E577-4D3B-97DB-DF6DEDEC8C98}" destId="{C5CAF799-DA3D-4CA6-89C2-25470966ECE3}" srcOrd="0" destOrd="0" presId="urn:microsoft.com/office/officeart/2005/8/layout/vList2"/>
    <dgm:cxn modelId="{6C752A59-F619-4EC2-BCC2-6B306BC3DA14}" type="presParOf" srcId="{2F11EAA6-E577-4D3B-97DB-DF6DEDEC8C98}" destId="{74462ACC-3F45-4A3E-BCC3-4FDB43DA511B}" srcOrd="1" destOrd="0" presId="urn:microsoft.com/office/officeart/2005/8/layout/vList2"/>
    <dgm:cxn modelId="{63E849C0-6C84-4279-BA0F-9594EA8D7DC6}" type="presParOf" srcId="{2F11EAA6-E577-4D3B-97DB-DF6DEDEC8C98}" destId="{8A1D18D8-506C-48EF-9C85-06301FE8C97B}" srcOrd="2" destOrd="0" presId="urn:microsoft.com/office/officeart/2005/8/layout/vList2"/>
    <dgm:cxn modelId="{2CA0EFA6-60DE-4983-8B5B-1D6B7DC3D8AE}" type="presParOf" srcId="{2F11EAA6-E577-4D3B-97DB-DF6DEDEC8C98}" destId="{AA6E9909-BC27-4A49-97E8-FAAB2320B5F0}" srcOrd="3" destOrd="0" presId="urn:microsoft.com/office/officeart/2005/8/layout/vList2"/>
    <dgm:cxn modelId="{60BFC338-14A6-4E09-A690-1F6D73301581}" type="presParOf" srcId="{2F11EAA6-E577-4D3B-97DB-DF6DEDEC8C98}" destId="{5CD3047F-86A8-4AFB-BCAB-7BA7EF75922C}" srcOrd="4" destOrd="0" presId="urn:microsoft.com/office/officeart/2005/8/layout/vList2"/>
    <dgm:cxn modelId="{4728B3E4-1CB1-4E11-B855-DCAF23696C2D}" type="presParOf" srcId="{2F11EAA6-E577-4D3B-97DB-DF6DEDEC8C98}" destId="{D9BCAD9B-A1C8-4926-89AB-25B15DD5BF8E}" srcOrd="5" destOrd="0" presId="urn:microsoft.com/office/officeart/2005/8/layout/vList2"/>
    <dgm:cxn modelId="{1DDEBF2C-007E-4CE4-8F61-E091AB7F8FA5}" type="presParOf" srcId="{2F11EAA6-E577-4D3B-97DB-DF6DEDEC8C98}" destId="{71B67E32-1D99-40C8-AA3E-011530C096B4}" srcOrd="6" destOrd="0" presId="urn:microsoft.com/office/officeart/2005/8/layout/vList2"/>
    <dgm:cxn modelId="{B6971CAE-F9AF-454B-849F-B46EF0C6B705}" type="presParOf" srcId="{2F11EAA6-E577-4D3B-97DB-DF6DEDEC8C98}" destId="{1677B00F-90F9-4F55-83B8-A35A7C6A536B}" srcOrd="7" destOrd="0" presId="urn:microsoft.com/office/officeart/2005/8/layout/vList2"/>
    <dgm:cxn modelId="{34BF68FA-C822-4278-BB8B-EFAF7A213BBC}" type="presParOf" srcId="{2F11EAA6-E577-4D3B-97DB-DF6DEDEC8C98}" destId="{DF907707-AF48-4C50-B938-BE322DAE4B51}" srcOrd="8" destOrd="0" presId="urn:microsoft.com/office/officeart/2005/8/layout/vList2"/>
    <dgm:cxn modelId="{D356200C-875E-4FA2-A52E-D4A567C75435}" type="presParOf" srcId="{2F11EAA6-E577-4D3B-97DB-DF6DEDEC8C98}" destId="{ADEBDDDA-7D83-459F-A960-B8AAFAD9C21B}" srcOrd="9" destOrd="0" presId="urn:microsoft.com/office/officeart/2005/8/layout/vList2"/>
    <dgm:cxn modelId="{5213052A-9A67-47C5-B7DC-D30D5A7B0C12}" type="presParOf" srcId="{2F11EAA6-E577-4D3B-97DB-DF6DEDEC8C98}" destId="{BAB4930A-5453-426F-8A22-764413AFB86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3C1070-BA35-4372-A68B-6DDFDA600A2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03A347-DC9D-4DED-B111-110E455BD80F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 developed an end-to-end ML pipeline for student mental well-being prediction.</a:t>
          </a:r>
          <a:endParaRPr lang="en-US"/>
        </a:p>
      </dgm:t>
    </dgm:pt>
    <dgm:pt modelId="{23D1BF80-8349-49EC-AEE5-F8BEA8F602B3}" type="parTrans" cxnId="{3A08BB0C-EDA7-4946-8BAD-5951F2881036}">
      <dgm:prSet/>
      <dgm:spPr/>
      <dgm:t>
        <a:bodyPr/>
        <a:lstStyle/>
        <a:p>
          <a:endParaRPr lang="en-US"/>
        </a:p>
      </dgm:t>
    </dgm:pt>
    <dgm:pt modelId="{B261955A-939B-4F25-8E55-68E7A942BAEE}" type="sibTrans" cxnId="{3A08BB0C-EDA7-4946-8BAD-5951F2881036}">
      <dgm:prSet/>
      <dgm:spPr/>
      <dgm:t>
        <a:bodyPr/>
        <a:lstStyle/>
        <a:p>
          <a:endParaRPr lang="en-US"/>
        </a:p>
      </dgm:t>
    </dgm:pt>
    <dgm:pt modelId="{0E0FD88A-F1BD-4D05-AA5F-681D46A0282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Baselines and an MLP demonstrate meaningful signal in usage, sleep, addiction, and conflict features.</a:t>
          </a:r>
          <a:endParaRPr lang="en-US"/>
        </a:p>
      </dgm:t>
    </dgm:pt>
    <dgm:pt modelId="{0197050D-A691-40CE-AA1D-DCD244A57625}" type="parTrans" cxnId="{C029A547-A6E9-421C-A1A2-62325DC4701D}">
      <dgm:prSet/>
      <dgm:spPr/>
      <dgm:t>
        <a:bodyPr/>
        <a:lstStyle/>
        <a:p>
          <a:endParaRPr lang="en-US"/>
        </a:p>
      </dgm:t>
    </dgm:pt>
    <dgm:pt modelId="{B1CA29F9-66E4-4A77-BFED-0AC664F17348}" type="sibTrans" cxnId="{C029A547-A6E9-421C-A1A2-62325DC4701D}">
      <dgm:prSet/>
      <dgm:spPr/>
      <dgm:t>
        <a:bodyPr/>
        <a:lstStyle/>
        <a:p>
          <a:endParaRPr lang="en-US"/>
        </a:p>
      </dgm:t>
    </dgm:pt>
    <dgm:pt modelId="{58144826-B4C8-49BC-9983-F96A2CB28925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The trained neural network was successfully repurposed into a personalized recommendation system.</a:t>
          </a:r>
          <a:endParaRPr lang="en-US"/>
        </a:p>
      </dgm:t>
    </dgm:pt>
    <dgm:pt modelId="{E8F94317-5E44-46D5-97DE-C178CFD0B37C}" type="parTrans" cxnId="{45994D08-F45D-45C5-8E74-82EB062356E6}">
      <dgm:prSet/>
      <dgm:spPr/>
      <dgm:t>
        <a:bodyPr/>
        <a:lstStyle/>
        <a:p>
          <a:endParaRPr lang="en-US"/>
        </a:p>
      </dgm:t>
    </dgm:pt>
    <dgm:pt modelId="{A055DBD8-1736-456A-AADA-0B32E48C086E}" type="sibTrans" cxnId="{45994D08-F45D-45C5-8E74-82EB062356E6}">
      <dgm:prSet/>
      <dgm:spPr/>
      <dgm:t>
        <a:bodyPr/>
        <a:lstStyle/>
        <a:p>
          <a:endParaRPr lang="en-US"/>
        </a:p>
      </dgm:t>
    </dgm:pt>
    <dgm:pt modelId="{CDEED983-24CA-4EB8-A354-5B8A84FCD6D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This fulfills the course requirement of training and a application of the resulting network.</a:t>
          </a:r>
          <a:endParaRPr lang="en-US" dirty="0"/>
        </a:p>
      </dgm:t>
    </dgm:pt>
    <dgm:pt modelId="{9A344306-D262-46CB-B83A-DC26BF9B0D8D}" type="parTrans" cxnId="{8A574A64-318A-4B98-875B-59FDDF1D58AA}">
      <dgm:prSet/>
      <dgm:spPr/>
      <dgm:t>
        <a:bodyPr/>
        <a:lstStyle/>
        <a:p>
          <a:endParaRPr lang="en-US"/>
        </a:p>
      </dgm:t>
    </dgm:pt>
    <dgm:pt modelId="{6C858F4F-4824-4EC3-A76A-36451A20F3E0}" type="sibTrans" cxnId="{8A574A64-318A-4B98-875B-59FDDF1D58AA}">
      <dgm:prSet/>
      <dgm:spPr/>
      <dgm:t>
        <a:bodyPr/>
        <a:lstStyle/>
        <a:p>
          <a:endParaRPr lang="en-US"/>
        </a:p>
      </dgm:t>
    </dgm:pt>
    <dgm:pt modelId="{6AA38D02-6965-4267-A935-CD903D70978F}" type="pres">
      <dgm:prSet presAssocID="{633C1070-BA35-4372-A68B-6DDFDA600A21}" presName="root" presStyleCnt="0">
        <dgm:presLayoutVars>
          <dgm:dir/>
          <dgm:resizeHandles val="exact"/>
        </dgm:presLayoutVars>
      </dgm:prSet>
      <dgm:spPr/>
    </dgm:pt>
    <dgm:pt modelId="{7DC2577F-542E-4D20-91FF-72994ED4380E}" type="pres">
      <dgm:prSet presAssocID="{FB03A347-DC9D-4DED-B111-110E455BD80F}" presName="compNode" presStyleCnt="0"/>
      <dgm:spPr/>
    </dgm:pt>
    <dgm:pt modelId="{547C461F-7A37-400B-81C7-839A6685A2E6}" type="pres">
      <dgm:prSet presAssocID="{FB03A347-DC9D-4DED-B111-110E455BD80F}" presName="bgRect" presStyleLbl="bgShp" presStyleIdx="0" presStyleCnt="4"/>
      <dgm:spPr/>
    </dgm:pt>
    <dgm:pt modelId="{8CF5BDAF-770C-4AF5-9B57-B8ED7899596B}" type="pres">
      <dgm:prSet presAssocID="{FB03A347-DC9D-4DED-B111-110E455BD80F}" presName="iconRect" presStyleLbl="node1" presStyleIdx="0" presStyleCnt="4"/>
      <dgm:spPr/>
    </dgm:pt>
    <dgm:pt modelId="{ACF33C2B-25E3-4D94-9125-DAF58D0D2439}" type="pres">
      <dgm:prSet presAssocID="{FB03A347-DC9D-4DED-B111-110E455BD80F}" presName="spaceRect" presStyleCnt="0"/>
      <dgm:spPr/>
    </dgm:pt>
    <dgm:pt modelId="{5BFE1C85-D9F0-471B-BD8F-2BCB378FEB5E}" type="pres">
      <dgm:prSet presAssocID="{FB03A347-DC9D-4DED-B111-110E455BD80F}" presName="parTx" presStyleLbl="revTx" presStyleIdx="0" presStyleCnt="4">
        <dgm:presLayoutVars>
          <dgm:chMax val="0"/>
          <dgm:chPref val="0"/>
        </dgm:presLayoutVars>
      </dgm:prSet>
      <dgm:spPr/>
    </dgm:pt>
    <dgm:pt modelId="{FAE22180-F29A-45EB-BA73-D20A685947ED}" type="pres">
      <dgm:prSet presAssocID="{B261955A-939B-4F25-8E55-68E7A942BAEE}" presName="sibTrans" presStyleCnt="0"/>
      <dgm:spPr/>
    </dgm:pt>
    <dgm:pt modelId="{ED5A8864-CA51-45F0-AF5B-0FAFB2232104}" type="pres">
      <dgm:prSet presAssocID="{0E0FD88A-F1BD-4D05-AA5F-681D46A02823}" presName="compNode" presStyleCnt="0"/>
      <dgm:spPr/>
    </dgm:pt>
    <dgm:pt modelId="{340DCFF2-43CF-445F-976C-83B0A0EE824E}" type="pres">
      <dgm:prSet presAssocID="{0E0FD88A-F1BD-4D05-AA5F-681D46A02823}" presName="bgRect" presStyleLbl="bgShp" presStyleIdx="1" presStyleCnt="4"/>
      <dgm:spPr/>
    </dgm:pt>
    <dgm:pt modelId="{C1C218D6-21E3-486D-BAA8-C7F93D1F3368}" type="pres">
      <dgm:prSet presAssocID="{0E0FD88A-F1BD-4D05-AA5F-681D46A02823}" presName="iconRect" presStyleLbl="node1" presStyleIdx="1" presStyleCnt="4"/>
      <dgm:spPr/>
    </dgm:pt>
    <dgm:pt modelId="{E75A179E-8AF8-4A0D-92C7-5C5CC6F6ED84}" type="pres">
      <dgm:prSet presAssocID="{0E0FD88A-F1BD-4D05-AA5F-681D46A02823}" presName="spaceRect" presStyleCnt="0"/>
      <dgm:spPr/>
    </dgm:pt>
    <dgm:pt modelId="{D15F6F5B-B85F-4546-B000-E541B4715080}" type="pres">
      <dgm:prSet presAssocID="{0E0FD88A-F1BD-4D05-AA5F-681D46A02823}" presName="parTx" presStyleLbl="revTx" presStyleIdx="1" presStyleCnt="4">
        <dgm:presLayoutVars>
          <dgm:chMax val="0"/>
          <dgm:chPref val="0"/>
        </dgm:presLayoutVars>
      </dgm:prSet>
      <dgm:spPr/>
    </dgm:pt>
    <dgm:pt modelId="{7713B031-30C6-422B-B840-5B24752A1CF2}" type="pres">
      <dgm:prSet presAssocID="{B1CA29F9-66E4-4A77-BFED-0AC664F17348}" presName="sibTrans" presStyleCnt="0"/>
      <dgm:spPr/>
    </dgm:pt>
    <dgm:pt modelId="{B0B336FE-0692-4B10-9C87-12668F99050C}" type="pres">
      <dgm:prSet presAssocID="{58144826-B4C8-49BC-9983-F96A2CB28925}" presName="compNode" presStyleCnt="0"/>
      <dgm:spPr/>
    </dgm:pt>
    <dgm:pt modelId="{847EC892-690E-48AD-BE7A-E686FE75F54A}" type="pres">
      <dgm:prSet presAssocID="{58144826-B4C8-49BC-9983-F96A2CB28925}" presName="bgRect" presStyleLbl="bgShp" presStyleIdx="2" presStyleCnt="4"/>
      <dgm:spPr/>
    </dgm:pt>
    <dgm:pt modelId="{2F1E4FEE-3DF5-4DD6-80D5-26C76248B57F}" type="pres">
      <dgm:prSet presAssocID="{58144826-B4C8-49BC-9983-F96A2CB28925}" presName="iconRect" presStyleLbl="node1" presStyleIdx="2" presStyleCnt="4"/>
      <dgm:spPr/>
    </dgm:pt>
    <dgm:pt modelId="{5E33459B-EB36-493D-8F3F-FF7551269504}" type="pres">
      <dgm:prSet presAssocID="{58144826-B4C8-49BC-9983-F96A2CB28925}" presName="spaceRect" presStyleCnt="0"/>
      <dgm:spPr/>
    </dgm:pt>
    <dgm:pt modelId="{51F4432E-6DFA-4412-9FD1-560E6F8670B7}" type="pres">
      <dgm:prSet presAssocID="{58144826-B4C8-49BC-9983-F96A2CB28925}" presName="parTx" presStyleLbl="revTx" presStyleIdx="2" presStyleCnt="4">
        <dgm:presLayoutVars>
          <dgm:chMax val="0"/>
          <dgm:chPref val="0"/>
        </dgm:presLayoutVars>
      </dgm:prSet>
      <dgm:spPr/>
    </dgm:pt>
    <dgm:pt modelId="{798F8970-BACA-4EB6-8673-92CE53338929}" type="pres">
      <dgm:prSet presAssocID="{A055DBD8-1736-456A-AADA-0B32E48C086E}" presName="sibTrans" presStyleCnt="0"/>
      <dgm:spPr/>
    </dgm:pt>
    <dgm:pt modelId="{9C8B6B6F-B04F-41DA-B830-945407D2DC7A}" type="pres">
      <dgm:prSet presAssocID="{CDEED983-24CA-4EB8-A354-5B8A84FCD6D3}" presName="compNode" presStyleCnt="0"/>
      <dgm:spPr/>
    </dgm:pt>
    <dgm:pt modelId="{952CA95E-D574-44ED-95D3-8BA29AC8560D}" type="pres">
      <dgm:prSet presAssocID="{CDEED983-24CA-4EB8-A354-5B8A84FCD6D3}" presName="bgRect" presStyleLbl="bgShp" presStyleIdx="3" presStyleCnt="4"/>
      <dgm:spPr/>
    </dgm:pt>
    <dgm:pt modelId="{152B138E-2B65-48D0-A902-CEC3020DD657}" type="pres">
      <dgm:prSet presAssocID="{CDEED983-24CA-4EB8-A354-5B8A84FCD6D3}" presName="iconRect" presStyleLbl="node1" presStyleIdx="3" presStyleCnt="4"/>
      <dgm:spPr/>
    </dgm:pt>
    <dgm:pt modelId="{2533E3F1-FCA3-4E02-8A0C-4252D0B68836}" type="pres">
      <dgm:prSet presAssocID="{CDEED983-24CA-4EB8-A354-5B8A84FCD6D3}" presName="spaceRect" presStyleCnt="0"/>
      <dgm:spPr/>
    </dgm:pt>
    <dgm:pt modelId="{463C8F92-9340-43AB-A705-F3B4BE9F0086}" type="pres">
      <dgm:prSet presAssocID="{CDEED983-24CA-4EB8-A354-5B8A84FCD6D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5994D08-F45D-45C5-8E74-82EB062356E6}" srcId="{633C1070-BA35-4372-A68B-6DDFDA600A21}" destId="{58144826-B4C8-49BC-9983-F96A2CB28925}" srcOrd="2" destOrd="0" parTransId="{E8F94317-5E44-46D5-97DE-C178CFD0B37C}" sibTransId="{A055DBD8-1736-456A-AADA-0B32E48C086E}"/>
    <dgm:cxn modelId="{3A08BB0C-EDA7-4946-8BAD-5951F2881036}" srcId="{633C1070-BA35-4372-A68B-6DDFDA600A21}" destId="{FB03A347-DC9D-4DED-B111-110E455BD80F}" srcOrd="0" destOrd="0" parTransId="{23D1BF80-8349-49EC-AEE5-F8BEA8F602B3}" sibTransId="{B261955A-939B-4F25-8E55-68E7A942BAEE}"/>
    <dgm:cxn modelId="{2EF3E41D-7AE5-4BA4-A2B8-971E1AAABC07}" type="presOf" srcId="{58144826-B4C8-49BC-9983-F96A2CB28925}" destId="{51F4432E-6DFA-4412-9FD1-560E6F8670B7}" srcOrd="0" destOrd="0" presId="urn:microsoft.com/office/officeart/2018/2/layout/IconVerticalSolidList"/>
    <dgm:cxn modelId="{995C4D3C-821B-4E53-A3A1-8D1A79EC7155}" type="presOf" srcId="{633C1070-BA35-4372-A68B-6DDFDA600A21}" destId="{6AA38D02-6965-4267-A935-CD903D70978F}" srcOrd="0" destOrd="0" presId="urn:microsoft.com/office/officeart/2018/2/layout/IconVerticalSolidList"/>
    <dgm:cxn modelId="{8A574A64-318A-4B98-875B-59FDDF1D58AA}" srcId="{633C1070-BA35-4372-A68B-6DDFDA600A21}" destId="{CDEED983-24CA-4EB8-A354-5B8A84FCD6D3}" srcOrd="3" destOrd="0" parTransId="{9A344306-D262-46CB-B83A-DC26BF9B0D8D}" sibTransId="{6C858F4F-4824-4EC3-A76A-36451A20F3E0}"/>
    <dgm:cxn modelId="{C029A547-A6E9-421C-A1A2-62325DC4701D}" srcId="{633C1070-BA35-4372-A68B-6DDFDA600A21}" destId="{0E0FD88A-F1BD-4D05-AA5F-681D46A02823}" srcOrd="1" destOrd="0" parTransId="{0197050D-A691-40CE-AA1D-DCD244A57625}" sibTransId="{B1CA29F9-66E4-4A77-BFED-0AC664F17348}"/>
    <dgm:cxn modelId="{AAB9614D-764B-4DAC-BBCE-BB2DE2F49361}" type="presOf" srcId="{CDEED983-24CA-4EB8-A354-5B8A84FCD6D3}" destId="{463C8F92-9340-43AB-A705-F3B4BE9F0086}" srcOrd="0" destOrd="0" presId="urn:microsoft.com/office/officeart/2018/2/layout/IconVerticalSolidList"/>
    <dgm:cxn modelId="{1EF5E7AB-38CC-467D-8498-10FAE59AEC94}" type="presOf" srcId="{0E0FD88A-F1BD-4D05-AA5F-681D46A02823}" destId="{D15F6F5B-B85F-4546-B000-E541B4715080}" srcOrd="0" destOrd="0" presId="urn:microsoft.com/office/officeart/2018/2/layout/IconVerticalSolidList"/>
    <dgm:cxn modelId="{656531D8-762F-4228-9DB3-D8C0C1DE4A70}" type="presOf" srcId="{FB03A347-DC9D-4DED-B111-110E455BD80F}" destId="{5BFE1C85-D9F0-471B-BD8F-2BCB378FEB5E}" srcOrd="0" destOrd="0" presId="urn:microsoft.com/office/officeart/2018/2/layout/IconVerticalSolidList"/>
    <dgm:cxn modelId="{25ECE779-A35F-439E-AD23-6B15A7EAD291}" type="presParOf" srcId="{6AA38D02-6965-4267-A935-CD903D70978F}" destId="{7DC2577F-542E-4D20-91FF-72994ED4380E}" srcOrd="0" destOrd="0" presId="urn:microsoft.com/office/officeart/2018/2/layout/IconVerticalSolidList"/>
    <dgm:cxn modelId="{49473E30-50BC-4DDD-99F4-89E5E3212AD9}" type="presParOf" srcId="{7DC2577F-542E-4D20-91FF-72994ED4380E}" destId="{547C461F-7A37-400B-81C7-839A6685A2E6}" srcOrd="0" destOrd="0" presId="urn:microsoft.com/office/officeart/2018/2/layout/IconVerticalSolidList"/>
    <dgm:cxn modelId="{03576A54-D236-46BB-B3EC-2ADDBF2D94CF}" type="presParOf" srcId="{7DC2577F-542E-4D20-91FF-72994ED4380E}" destId="{8CF5BDAF-770C-4AF5-9B57-B8ED7899596B}" srcOrd="1" destOrd="0" presId="urn:microsoft.com/office/officeart/2018/2/layout/IconVerticalSolidList"/>
    <dgm:cxn modelId="{823065D6-D200-4E43-9056-899C143BC61A}" type="presParOf" srcId="{7DC2577F-542E-4D20-91FF-72994ED4380E}" destId="{ACF33C2B-25E3-4D94-9125-DAF58D0D2439}" srcOrd="2" destOrd="0" presId="urn:microsoft.com/office/officeart/2018/2/layout/IconVerticalSolidList"/>
    <dgm:cxn modelId="{0A63EEB7-63F3-4154-AD71-400F5227BB62}" type="presParOf" srcId="{7DC2577F-542E-4D20-91FF-72994ED4380E}" destId="{5BFE1C85-D9F0-471B-BD8F-2BCB378FEB5E}" srcOrd="3" destOrd="0" presId="urn:microsoft.com/office/officeart/2018/2/layout/IconVerticalSolidList"/>
    <dgm:cxn modelId="{498C557A-9F8F-4A1B-ABAC-0B9D13BD34E9}" type="presParOf" srcId="{6AA38D02-6965-4267-A935-CD903D70978F}" destId="{FAE22180-F29A-45EB-BA73-D20A685947ED}" srcOrd="1" destOrd="0" presId="urn:microsoft.com/office/officeart/2018/2/layout/IconVerticalSolidList"/>
    <dgm:cxn modelId="{5DB4E68F-16E0-4FA6-8831-CFFC178C1AC5}" type="presParOf" srcId="{6AA38D02-6965-4267-A935-CD903D70978F}" destId="{ED5A8864-CA51-45F0-AF5B-0FAFB2232104}" srcOrd="2" destOrd="0" presId="urn:microsoft.com/office/officeart/2018/2/layout/IconVerticalSolidList"/>
    <dgm:cxn modelId="{D08A3DF2-F339-4170-81BB-93F07537AE7B}" type="presParOf" srcId="{ED5A8864-CA51-45F0-AF5B-0FAFB2232104}" destId="{340DCFF2-43CF-445F-976C-83B0A0EE824E}" srcOrd="0" destOrd="0" presId="urn:microsoft.com/office/officeart/2018/2/layout/IconVerticalSolidList"/>
    <dgm:cxn modelId="{BDCE268A-FAF8-4A8F-B55E-147C2AF86286}" type="presParOf" srcId="{ED5A8864-CA51-45F0-AF5B-0FAFB2232104}" destId="{C1C218D6-21E3-486D-BAA8-C7F93D1F3368}" srcOrd="1" destOrd="0" presId="urn:microsoft.com/office/officeart/2018/2/layout/IconVerticalSolidList"/>
    <dgm:cxn modelId="{531CBFB9-9AF2-4F79-B1BF-FE29F57A9D98}" type="presParOf" srcId="{ED5A8864-CA51-45F0-AF5B-0FAFB2232104}" destId="{E75A179E-8AF8-4A0D-92C7-5C5CC6F6ED84}" srcOrd="2" destOrd="0" presId="urn:microsoft.com/office/officeart/2018/2/layout/IconVerticalSolidList"/>
    <dgm:cxn modelId="{8F5CDBF7-2DC2-472E-956D-9DC64BE77C8B}" type="presParOf" srcId="{ED5A8864-CA51-45F0-AF5B-0FAFB2232104}" destId="{D15F6F5B-B85F-4546-B000-E541B4715080}" srcOrd="3" destOrd="0" presId="urn:microsoft.com/office/officeart/2018/2/layout/IconVerticalSolidList"/>
    <dgm:cxn modelId="{17A459B2-DC2C-4121-8542-AEC1E374E670}" type="presParOf" srcId="{6AA38D02-6965-4267-A935-CD903D70978F}" destId="{7713B031-30C6-422B-B840-5B24752A1CF2}" srcOrd="3" destOrd="0" presId="urn:microsoft.com/office/officeart/2018/2/layout/IconVerticalSolidList"/>
    <dgm:cxn modelId="{19A1D860-68CA-4348-B63A-E9AE9D7ACA8B}" type="presParOf" srcId="{6AA38D02-6965-4267-A935-CD903D70978F}" destId="{B0B336FE-0692-4B10-9C87-12668F99050C}" srcOrd="4" destOrd="0" presId="urn:microsoft.com/office/officeart/2018/2/layout/IconVerticalSolidList"/>
    <dgm:cxn modelId="{3E4B7ADA-F888-4564-BD29-9C18D637D50F}" type="presParOf" srcId="{B0B336FE-0692-4B10-9C87-12668F99050C}" destId="{847EC892-690E-48AD-BE7A-E686FE75F54A}" srcOrd="0" destOrd="0" presId="urn:microsoft.com/office/officeart/2018/2/layout/IconVerticalSolidList"/>
    <dgm:cxn modelId="{99F14398-3424-4434-900A-86FC29AF474D}" type="presParOf" srcId="{B0B336FE-0692-4B10-9C87-12668F99050C}" destId="{2F1E4FEE-3DF5-4DD6-80D5-26C76248B57F}" srcOrd="1" destOrd="0" presId="urn:microsoft.com/office/officeart/2018/2/layout/IconVerticalSolidList"/>
    <dgm:cxn modelId="{DA793CD8-7411-4FA2-AD28-DC0E8CA30FC2}" type="presParOf" srcId="{B0B336FE-0692-4B10-9C87-12668F99050C}" destId="{5E33459B-EB36-493D-8F3F-FF7551269504}" srcOrd="2" destOrd="0" presId="urn:microsoft.com/office/officeart/2018/2/layout/IconVerticalSolidList"/>
    <dgm:cxn modelId="{83C16540-AB1C-4EAC-BA0A-771A98E7D2E1}" type="presParOf" srcId="{B0B336FE-0692-4B10-9C87-12668F99050C}" destId="{51F4432E-6DFA-4412-9FD1-560E6F8670B7}" srcOrd="3" destOrd="0" presId="urn:microsoft.com/office/officeart/2018/2/layout/IconVerticalSolidList"/>
    <dgm:cxn modelId="{9F89D2C7-7077-47C7-93B2-8FA85589D6AD}" type="presParOf" srcId="{6AA38D02-6965-4267-A935-CD903D70978F}" destId="{798F8970-BACA-4EB6-8673-92CE53338929}" srcOrd="5" destOrd="0" presId="urn:microsoft.com/office/officeart/2018/2/layout/IconVerticalSolidList"/>
    <dgm:cxn modelId="{E6D8104C-071F-4A62-B7AB-626D369A2DF4}" type="presParOf" srcId="{6AA38D02-6965-4267-A935-CD903D70978F}" destId="{9C8B6B6F-B04F-41DA-B830-945407D2DC7A}" srcOrd="6" destOrd="0" presId="urn:microsoft.com/office/officeart/2018/2/layout/IconVerticalSolidList"/>
    <dgm:cxn modelId="{27A42577-F669-40FA-8C1A-8AF1739232DC}" type="presParOf" srcId="{9C8B6B6F-B04F-41DA-B830-945407D2DC7A}" destId="{952CA95E-D574-44ED-95D3-8BA29AC8560D}" srcOrd="0" destOrd="0" presId="urn:microsoft.com/office/officeart/2018/2/layout/IconVerticalSolidList"/>
    <dgm:cxn modelId="{3F9E258D-722C-4DB1-AEAC-49ED9DBC6F13}" type="presParOf" srcId="{9C8B6B6F-B04F-41DA-B830-945407D2DC7A}" destId="{152B138E-2B65-48D0-A902-CEC3020DD657}" srcOrd="1" destOrd="0" presId="urn:microsoft.com/office/officeart/2018/2/layout/IconVerticalSolidList"/>
    <dgm:cxn modelId="{519AE9DB-440C-40AE-815A-49F03FCBE630}" type="presParOf" srcId="{9C8B6B6F-B04F-41DA-B830-945407D2DC7A}" destId="{2533E3F1-FCA3-4E02-8A0C-4252D0B68836}" srcOrd="2" destOrd="0" presId="urn:microsoft.com/office/officeart/2018/2/layout/IconVerticalSolidList"/>
    <dgm:cxn modelId="{371FAF42-EC98-4B65-8525-472220B3FB7E}" type="presParOf" srcId="{9C8B6B6F-B04F-41DA-B830-945407D2DC7A}" destId="{463C8F92-9340-43AB-A705-F3B4BE9F00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AF799-DA3D-4CA6-89C2-25470966ECE3}">
      <dsp:nvSpPr>
        <dsp:cNvPr id="0" name=""/>
        <dsp:cNvSpPr/>
      </dsp:nvSpPr>
      <dsp:spPr>
        <a:xfrm>
          <a:off x="0" y="69619"/>
          <a:ext cx="5000124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Avg_Daily_Usage_Hours: average social media time per day (actionable).</a:t>
          </a:r>
          <a:endParaRPr lang="en-US" sz="2100" kern="1200"/>
        </a:p>
      </dsp:txBody>
      <dsp:txXfrm>
        <a:off x="40780" y="110399"/>
        <a:ext cx="4918564" cy="753819"/>
      </dsp:txXfrm>
    </dsp:sp>
    <dsp:sp modelId="{8A1D18D8-506C-48EF-9C85-06301FE8C97B}">
      <dsp:nvSpPr>
        <dsp:cNvPr id="0" name=""/>
        <dsp:cNvSpPr/>
      </dsp:nvSpPr>
      <dsp:spPr>
        <a:xfrm>
          <a:off x="0" y="965479"/>
          <a:ext cx="5000124" cy="83537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Sleep_Hours_Per_Night: average nightly sleep (actionable).</a:t>
          </a:r>
          <a:endParaRPr lang="en-US" sz="2100" kern="1200"/>
        </a:p>
      </dsp:txBody>
      <dsp:txXfrm>
        <a:off x="40780" y="1006259"/>
        <a:ext cx="4918564" cy="753819"/>
      </dsp:txXfrm>
    </dsp:sp>
    <dsp:sp modelId="{5CD3047F-86A8-4AFB-BCAB-7BA7EF75922C}">
      <dsp:nvSpPr>
        <dsp:cNvPr id="0" name=""/>
        <dsp:cNvSpPr/>
      </dsp:nvSpPr>
      <dsp:spPr>
        <a:xfrm>
          <a:off x="0" y="1861339"/>
          <a:ext cx="5000124" cy="83537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Addicted_Score: self-reported addiction intensity.</a:t>
          </a:r>
          <a:endParaRPr lang="en-US" sz="2100" kern="1200"/>
        </a:p>
      </dsp:txBody>
      <dsp:txXfrm>
        <a:off x="40780" y="1902119"/>
        <a:ext cx="4918564" cy="753819"/>
      </dsp:txXfrm>
    </dsp:sp>
    <dsp:sp modelId="{71B67E32-1D99-40C8-AA3E-011530C096B4}">
      <dsp:nvSpPr>
        <dsp:cNvPr id="0" name=""/>
        <dsp:cNvSpPr/>
      </dsp:nvSpPr>
      <dsp:spPr>
        <a:xfrm>
          <a:off x="0" y="2757200"/>
          <a:ext cx="5000124" cy="8353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Conflicts_Over_Social_Media: frequency/level of interpersonal conflict.</a:t>
          </a:r>
          <a:endParaRPr lang="en-US" sz="2100" kern="1200"/>
        </a:p>
      </dsp:txBody>
      <dsp:txXfrm>
        <a:off x="40780" y="2797980"/>
        <a:ext cx="4918564" cy="753819"/>
      </dsp:txXfrm>
    </dsp:sp>
    <dsp:sp modelId="{DF907707-AF48-4C50-B938-BE322DAE4B51}">
      <dsp:nvSpPr>
        <dsp:cNvPr id="0" name=""/>
        <dsp:cNvSpPr/>
      </dsp:nvSpPr>
      <dsp:spPr>
        <a:xfrm>
          <a:off x="0" y="3653060"/>
          <a:ext cx="5000124" cy="835379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Most_Used_Platform: primary platform category.</a:t>
          </a:r>
          <a:endParaRPr lang="en-US" sz="2100" kern="1200"/>
        </a:p>
      </dsp:txBody>
      <dsp:txXfrm>
        <a:off x="40780" y="3693840"/>
        <a:ext cx="4918564" cy="753819"/>
      </dsp:txXfrm>
    </dsp:sp>
    <dsp:sp modelId="{BAB4930A-5453-426F-8A22-764413AFB868}">
      <dsp:nvSpPr>
        <dsp:cNvPr id="0" name=""/>
        <dsp:cNvSpPr/>
      </dsp:nvSpPr>
      <dsp:spPr>
        <a:xfrm>
          <a:off x="0" y="4548920"/>
          <a:ext cx="5000124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Mental_Health_Score: prediction target.</a:t>
          </a:r>
          <a:endParaRPr lang="en-US" sz="2100" kern="1200"/>
        </a:p>
      </dsp:txBody>
      <dsp:txXfrm>
        <a:off x="40780" y="4589700"/>
        <a:ext cx="4918564" cy="753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C461F-7A37-400B-81C7-839A6685A2E6}">
      <dsp:nvSpPr>
        <dsp:cNvPr id="0" name=""/>
        <dsp:cNvSpPr/>
      </dsp:nvSpPr>
      <dsp:spPr>
        <a:xfrm>
          <a:off x="0" y="2708"/>
          <a:ext cx="3646835" cy="99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5BDAF-770C-4AF5-9B57-B8ED7899596B}">
      <dsp:nvSpPr>
        <dsp:cNvPr id="0" name=""/>
        <dsp:cNvSpPr/>
      </dsp:nvSpPr>
      <dsp:spPr>
        <a:xfrm>
          <a:off x="30156" y="25138"/>
          <a:ext cx="54829" cy="5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E1C85-D9F0-471B-BD8F-2BCB378FEB5E}">
      <dsp:nvSpPr>
        <dsp:cNvPr id="0" name=""/>
        <dsp:cNvSpPr/>
      </dsp:nvSpPr>
      <dsp:spPr>
        <a:xfrm>
          <a:off x="115141" y="2708"/>
          <a:ext cx="3106676" cy="11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06" tIns="126606" rIns="126606" bIns="1266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I developed an end-to-end ML pipeline for student mental well-being prediction.</a:t>
          </a:r>
          <a:endParaRPr lang="en-US" sz="1400" kern="1200"/>
        </a:p>
      </dsp:txBody>
      <dsp:txXfrm>
        <a:off x="115141" y="2708"/>
        <a:ext cx="3106676" cy="1196272"/>
      </dsp:txXfrm>
    </dsp:sp>
    <dsp:sp modelId="{340DCFF2-43CF-445F-976C-83B0A0EE824E}">
      <dsp:nvSpPr>
        <dsp:cNvPr id="0" name=""/>
        <dsp:cNvSpPr/>
      </dsp:nvSpPr>
      <dsp:spPr>
        <a:xfrm>
          <a:off x="0" y="1450827"/>
          <a:ext cx="3646835" cy="99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218D6-21E3-486D-BAA8-C7F93D1F3368}">
      <dsp:nvSpPr>
        <dsp:cNvPr id="0" name=""/>
        <dsp:cNvSpPr/>
      </dsp:nvSpPr>
      <dsp:spPr>
        <a:xfrm>
          <a:off x="30156" y="1473257"/>
          <a:ext cx="54829" cy="5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F6F5B-B85F-4546-B000-E541B4715080}">
      <dsp:nvSpPr>
        <dsp:cNvPr id="0" name=""/>
        <dsp:cNvSpPr/>
      </dsp:nvSpPr>
      <dsp:spPr>
        <a:xfrm>
          <a:off x="115141" y="1450827"/>
          <a:ext cx="3106676" cy="11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06" tIns="126606" rIns="126606" bIns="1266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Baselines and an MLP demonstrate meaningful signal in usage, sleep, addiction, and conflict features.</a:t>
          </a:r>
          <a:endParaRPr lang="en-US" sz="1400" kern="1200"/>
        </a:p>
      </dsp:txBody>
      <dsp:txXfrm>
        <a:off x="115141" y="1450827"/>
        <a:ext cx="3106676" cy="1196272"/>
      </dsp:txXfrm>
    </dsp:sp>
    <dsp:sp modelId="{847EC892-690E-48AD-BE7A-E686FE75F54A}">
      <dsp:nvSpPr>
        <dsp:cNvPr id="0" name=""/>
        <dsp:cNvSpPr/>
      </dsp:nvSpPr>
      <dsp:spPr>
        <a:xfrm>
          <a:off x="0" y="2898946"/>
          <a:ext cx="3646835" cy="99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E4FEE-3DF5-4DD6-80D5-26C76248B57F}">
      <dsp:nvSpPr>
        <dsp:cNvPr id="0" name=""/>
        <dsp:cNvSpPr/>
      </dsp:nvSpPr>
      <dsp:spPr>
        <a:xfrm>
          <a:off x="30156" y="2921377"/>
          <a:ext cx="54829" cy="5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F4432E-6DFA-4412-9FD1-560E6F8670B7}">
      <dsp:nvSpPr>
        <dsp:cNvPr id="0" name=""/>
        <dsp:cNvSpPr/>
      </dsp:nvSpPr>
      <dsp:spPr>
        <a:xfrm>
          <a:off x="115141" y="2898946"/>
          <a:ext cx="3106676" cy="11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06" tIns="126606" rIns="126606" bIns="1266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The trained neural network was successfully repurposed into a personalized recommendation system.</a:t>
          </a:r>
          <a:endParaRPr lang="en-US" sz="1400" kern="1200"/>
        </a:p>
      </dsp:txBody>
      <dsp:txXfrm>
        <a:off x="115141" y="2898946"/>
        <a:ext cx="3106676" cy="1196272"/>
      </dsp:txXfrm>
    </dsp:sp>
    <dsp:sp modelId="{952CA95E-D574-44ED-95D3-8BA29AC8560D}">
      <dsp:nvSpPr>
        <dsp:cNvPr id="0" name=""/>
        <dsp:cNvSpPr/>
      </dsp:nvSpPr>
      <dsp:spPr>
        <a:xfrm>
          <a:off x="0" y="4347066"/>
          <a:ext cx="3646835" cy="996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B138E-2B65-48D0-A902-CEC3020DD657}">
      <dsp:nvSpPr>
        <dsp:cNvPr id="0" name=""/>
        <dsp:cNvSpPr/>
      </dsp:nvSpPr>
      <dsp:spPr>
        <a:xfrm>
          <a:off x="30156" y="4369496"/>
          <a:ext cx="54829" cy="5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3C8F92-9340-43AB-A705-F3B4BE9F0086}">
      <dsp:nvSpPr>
        <dsp:cNvPr id="0" name=""/>
        <dsp:cNvSpPr/>
      </dsp:nvSpPr>
      <dsp:spPr>
        <a:xfrm>
          <a:off x="115141" y="4347066"/>
          <a:ext cx="3106676" cy="11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06" tIns="126606" rIns="126606" bIns="12660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 dirty="0"/>
            <a:t>This fulfills the course requirement of training and a application of the resulting network.</a:t>
          </a:r>
          <a:endParaRPr lang="en-US" sz="1400" kern="1200" dirty="0"/>
        </a:p>
      </dsp:txBody>
      <dsp:txXfrm>
        <a:off x="115141" y="4347066"/>
        <a:ext cx="3106676" cy="11962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CA" sz="4200">
                <a:solidFill>
                  <a:srgbClr val="FFFFFF"/>
                </a:solidFill>
              </a:rPr>
              <a:t>Predicting Student Mental Well-Being from Social Media Habits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dirty="0"/>
              <a:t>CSCI 4050U Final Project</a:t>
            </a:r>
            <a:endParaRPr lang="en-CA"/>
          </a:p>
          <a:p>
            <a:pPr algn="l"/>
            <a:r>
              <a:rPr lang="en-CA"/>
              <a:t>Tobin Kellock – 100472987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CA" sz="2400" dirty="0"/>
              <a:t>Train a predictive model to estimate </a:t>
            </a:r>
            <a:r>
              <a:rPr lang="en-CA" sz="2400" dirty="0" err="1"/>
              <a:t>Mental_Health_Score</a:t>
            </a:r>
            <a:r>
              <a:rPr lang="en-CA" sz="2400" dirty="0"/>
              <a:t> from student social media and lifestyle indicators.</a:t>
            </a:r>
          </a:p>
          <a:p>
            <a:r>
              <a:rPr lang="en-CA" sz="2400" dirty="0"/>
              <a:t>Compare a neural network against strong tabular baselines.</a:t>
            </a:r>
          </a:p>
          <a:p>
            <a:r>
              <a:rPr lang="en-CA" sz="2400" dirty="0"/>
              <a:t>Deploy an application of the trained network via a personalized recommendation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CA" sz="1700"/>
              <a:t>Student well-being is influenced by digital habits, sleep, stress, and social context.</a:t>
            </a:r>
          </a:p>
          <a:p>
            <a:r>
              <a:rPr lang="en-CA" sz="1700"/>
              <a:t>Social media effects are not uniform; patterns of use and balance matter.</a:t>
            </a:r>
          </a:p>
          <a:p>
            <a:r>
              <a:rPr lang="en-CA" sz="1700"/>
              <a:t>A predictive model can help identify risk signals and support reflective, non-clinical wellness guidance.</a:t>
            </a:r>
          </a:p>
          <a:p>
            <a:r>
              <a:rPr lang="en-CA" sz="1700"/>
              <a:t>This project is educational and not a diagnostic medical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CA" sz="1700" dirty="0"/>
              <a:t>Dataset: Students Social Media Addiction (survey-style CSV).</a:t>
            </a:r>
          </a:p>
          <a:p>
            <a:r>
              <a:rPr lang="en-CA" sz="1700" dirty="0"/>
              <a:t>Key feature groups</a:t>
            </a:r>
          </a:p>
          <a:p>
            <a:pPr lvl="1"/>
            <a:r>
              <a:rPr lang="en-CA" sz="1700" dirty="0"/>
              <a:t>Demographics: Age, Gender, </a:t>
            </a:r>
            <a:r>
              <a:rPr lang="en-CA" sz="1700" dirty="0" err="1"/>
              <a:t>Academic_Level</a:t>
            </a:r>
            <a:r>
              <a:rPr lang="en-CA" sz="1700" dirty="0"/>
              <a:t>, Country, </a:t>
            </a:r>
            <a:r>
              <a:rPr lang="en-CA" sz="1700" dirty="0" err="1"/>
              <a:t>Relationship_Status</a:t>
            </a:r>
            <a:endParaRPr lang="en-CA" sz="1700" dirty="0"/>
          </a:p>
          <a:p>
            <a:pPr lvl="1"/>
            <a:r>
              <a:rPr lang="en-CA" sz="1700" dirty="0"/>
              <a:t>Behavior &amp; impact: </a:t>
            </a:r>
            <a:r>
              <a:rPr lang="en-CA" sz="1700" dirty="0" err="1"/>
              <a:t>Avg_Daily_Usage_Hours</a:t>
            </a:r>
            <a:r>
              <a:rPr lang="en-CA" sz="1700" dirty="0"/>
              <a:t>, </a:t>
            </a:r>
            <a:r>
              <a:rPr lang="en-CA" sz="1700" dirty="0" err="1"/>
              <a:t>Most_Used_Platform</a:t>
            </a:r>
            <a:r>
              <a:rPr lang="en-CA" sz="1700" dirty="0"/>
              <a:t>, </a:t>
            </a:r>
            <a:r>
              <a:rPr lang="en-CA" sz="1700" dirty="0" err="1"/>
              <a:t>Affects_Academic_Performance</a:t>
            </a:r>
            <a:endParaRPr lang="en-CA" sz="1700" dirty="0"/>
          </a:p>
          <a:p>
            <a:pPr lvl="1"/>
            <a:r>
              <a:rPr lang="en-CA" sz="1700" dirty="0"/>
              <a:t>Lifestyle/experience: </a:t>
            </a:r>
            <a:r>
              <a:rPr lang="en-CA" sz="1700" dirty="0" err="1"/>
              <a:t>Sleep_Hours_Per_Night</a:t>
            </a:r>
            <a:r>
              <a:rPr lang="en-CA" sz="1700" dirty="0"/>
              <a:t>, </a:t>
            </a:r>
            <a:r>
              <a:rPr lang="en-CA" sz="1700" dirty="0" err="1"/>
              <a:t>Conflicts_Over_Social_Media</a:t>
            </a:r>
            <a:r>
              <a:rPr lang="en-CA" sz="1700" dirty="0"/>
              <a:t>, </a:t>
            </a:r>
            <a:r>
              <a:rPr lang="en-CA" sz="1700" dirty="0" err="1"/>
              <a:t>Addicted_Score</a:t>
            </a:r>
            <a:endParaRPr lang="en-CA" sz="1700" dirty="0"/>
          </a:p>
          <a:p>
            <a:r>
              <a:rPr lang="en-CA" sz="1700" dirty="0"/>
              <a:t>Target: </a:t>
            </a:r>
            <a:r>
              <a:rPr lang="en-CA" sz="1700" dirty="0" err="1"/>
              <a:t>Mental_Health_Score</a:t>
            </a:r>
            <a:r>
              <a:rPr lang="en-CA" sz="1700" dirty="0"/>
              <a:t> (higher indicates better self-reported well-being).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CA" sz="3500" dirty="0">
                <a:solidFill>
                  <a:srgbClr val="FFFFFF"/>
                </a:solidFill>
              </a:rPr>
              <a:t>Data Dictionary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ABAF49-9EC4-27A2-39C0-60B9510AB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35903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anchor="t">
            <a:normAutofit/>
          </a:bodyPr>
          <a:lstStyle/>
          <a:p>
            <a:r>
              <a:rPr lang="en-CA" sz="3200" dirty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5641" y="1412489"/>
            <a:ext cx="2570462" cy="43638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b="1"/>
            </a:pPr>
            <a:r>
              <a:rPr lang="en-CA" sz="1700" dirty="0"/>
              <a:t>I examined</a:t>
            </a:r>
          </a:p>
          <a:p>
            <a:pPr lvl="1">
              <a:lnSpc>
                <a:spcPct val="90000"/>
              </a:lnSpc>
            </a:pPr>
            <a:r>
              <a:rPr lang="en-CA" sz="1700" dirty="0"/>
              <a:t>Distributions of usage, sleep, addiction, conflict, and mental health.</a:t>
            </a:r>
          </a:p>
          <a:p>
            <a:pPr lvl="1">
              <a:lnSpc>
                <a:spcPct val="90000"/>
              </a:lnSpc>
            </a:pPr>
            <a:r>
              <a:rPr lang="en-CA" sz="1700" dirty="0"/>
              <a:t>Scatter plots vs </a:t>
            </a:r>
            <a:r>
              <a:rPr lang="en-CA" sz="1700" dirty="0" err="1"/>
              <a:t>Mental_Health_Score</a:t>
            </a:r>
            <a:r>
              <a:rPr lang="en-CA" sz="17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CA" sz="1700" dirty="0"/>
              <a:t>Group comparisons by platform and academic impact.</a:t>
            </a:r>
          </a:p>
          <a:p>
            <a:pPr lvl="1">
              <a:lnSpc>
                <a:spcPct val="90000"/>
              </a:lnSpc>
            </a:pPr>
            <a:r>
              <a:rPr lang="en-CA" sz="1700" dirty="0"/>
              <a:t>Correlation patterns among numeric features.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703" y="1412489"/>
            <a:ext cx="2398275" cy="43638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b="1"/>
            </a:pPr>
            <a:r>
              <a:rPr lang="en-CA" sz="1400" dirty="0"/>
              <a:t>Key observations</a:t>
            </a:r>
          </a:p>
          <a:p>
            <a:pPr lvl="1">
              <a:lnSpc>
                <a:spcPct val="90000"/>
              </a:lnSpc>
            </a:pPr>
            <a:r>
              <a:rPr lang="en-CA" sz="1400" dirty="0"/>
              <a:t>Higher usage and higher addiction often align with lower well-being.</a:t>
            </a:r>
          </a:p>
          <a:p>
            <a:pPr lvl="1">
              <a:lnSpc>
                <a:spcPct val="90000"/>
              </a:lnSpc>
            </a:pPr>
            <a:r>
              <a:rPr lang="en-CA" sz="1400" dirty="0"/>
              <a:t>Sleep appears positively associated with well-being.</a:t>
            </a:r>
          </a:p>
          <a:p>
            <a:pPr lvl="1">
              <a:lnSpc>
                <a:spcPct val="90000"/>
              </a:lnSpc>
            </a:pPr>
            <a:r>
              <a:rPr lang="en-CA" sz="1400" dirty="0"/>
              <a:t>Conflict-related measures may reflect social strain.</a:t>
            </a:r>
          </a:p>
          <a:p>
            <a:pPr lvl="1">
              <a:lnSpc>
                <a:spcPct val="90000"/>
              </a:lnSpc>
            </a:pPr>
            <a:r>
              <a:rPr lang="en-CA" sz="1400" dirty="0"/>
              <a:t>Platform identity is less predictive than intensity/balance.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CA" sz="1700"/>
              <a:t>Removed identifier column (Student_ID).</a:t>
            </a:r>
          </a:p>
          <a:p>
            <a:r>
              <a:rPr lang="en-CA" sz="1700"/>
              <a:t>Split data into train/test (80/20).</a:t>
            </a:r>
          </a:p>
          <a:p>
            <a:r>
              <a:rPr lang="en-CA" sz="1700"/>
              <a:t>Numeric features standardized (StandardScaler).</a:t>
            </a:r>
          </a:p>
          <a:p>
            <a:r>
              <a:rPr lang="en-CA" sz="1700"/>
              <a:t>Categorical features one-hot encoded (handle_unknown='ignore').</a:t>
            </a:r>
          </a:p>
          <a:p>
            <a:r>
              <a:rPr lang="en-CA" sz="1700"/>
              <a:t>Pipeline approach to ensure clean, reproducible transforms.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9949" y="995318"/>
            <a:ext cx="7404101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>
            <a:normAutofit/>
          </a:bodyPr>
          <a:lstStyle/>
          <a:p>
            <a:r>
              <a:rPr lang="en-CA" sz="3100">
                <a:solidFill>
                  <a:srgbClr val="3F3F3F"/>
                </a:solidFill>
              </a:rP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7686" y="2888250"/>
            <a:ext cx="3223013" cy="2959777"/>
          </a:xfrm>
        </p:spPr>
        <p:txBody>
          <a:bodyPr anchor="t">
            <a:normAutofit/>
          </a:bodyPr>
          <a:lstStyle/>
          <a:p>
            <a:pPr>
              <a:defRPr b="1"/>
            </a:pPr>
            <a:r>
              <a:rPr lang="en-CA" sz="1700"/>
              <a:t>Baselines</a:t>
            </a:r>
          </a:p>
          <a:p>
            <a:pPr lvl="1"/>
            <a:r>
              <a:rPr lang="en-CA" sz="1700"/>
              <a:t>Linear Regression</a:t>
            </a:r>
          </a:p>
          <a:p>
            <a:pPr lvl="1"/>
            <a:r>
              <a:rPr lang="en-CA" sz="1700"/>
              <a:t>Random Forest Regressor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3298" y="2888250"/>
            <a:ext cx="3219445" cy="2959778"/>
          </a:xfrm>
        </p:spPr>
        <p:txBody>
          <a:bodyPr anchor="t">
            <a:normAutofit/>
          </a:bodyPr>
          <a:lstStyle/>
          <a:p>
            <a:pPr>
              <a:defRPr b="1"/>
            </a:pPr>
            <a:r>
              <a:rPr lang="en-CA" sz="1700"/>
              <a:t>Neural model</a:t>
            </a:r>
          </a:p>
          <a:p>
            <a:pPr lvl="1"/>
            <a:r>
              <a:rPr lang="en-CA" sz="1700"/>
              <a:t>PyTorch MLP Regressor</a:t>
            </a:r>
          </a:p>
          <a:p>
            <a:pPr lvl="1"/>
            <a:r>
              <a:rPr lang="en-CA" sz="1700"/>
              <a:t>Architecture: 64 → 32 hidden units</a:t>
            </a:r>
          </a:p>
          <a:p>
            <a:pPr lvl="1"/>
            <a:r>
              <a:rPr lang="en-CA" sz="1700"/>
              <a:t>ReLU activations + Dropout (0.2)</a:t>
            </a:r>
          </a:p>
          <a:p>
            <a:pPr lvl="1"/>
            <a:r>
              <a:rPr lang="en-CA" sz="1700"/>
              <a:t>Loss: MSE • Optimizer: Adam</a:t>
            </a:r>
          </a:p>
          <a:p>
            <a:pPr lvl="1"/>
            <a:r>
              <a:rPr lang="en-CA" sz="1700"/>
              <a:t>Early stopping to reduce overfitting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 dirty="0">
                <a:solidFill>
                  <a:srgbClr val="FFFFFF"/>
                </a:solidFill>
              </a:rPr>
              <a:t>Model 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CA" sz="1700" dirty="0"/>
              <a:t>Linear Regression provides a transparent, low-complexity baseline.</a:t>
            </a:r>
          </a:p>
          <a:p>
            <a:r>
              <a:rPr lang="en-CA" sz="1700" dirty="0"/>
              <a:t>Random Forest is a strong non-neural benchmark for small tabular datasets.</a:t>
            </a:r>
          </a:p>
          <a:p>
            <a:r>
              <a:rPr lang="en-CA" sz="1700" dirty="0"/>
              <a:t>The MLP is designed to be compact and regularized to fit dataset scale.</a:t>
            </a:r>
          </a:p>
          <a:p>
            <a:r>
              <a:rPr lang="en-CA" sz="1700" dirty="0"/>
              <a:t>Even if a baseline slightly outperforms the MLP, the neural model is essential for the project’s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000">
                <a:solidFill>
                  <a:srgbClr val="FFFFFF"/>
                </a:solidFill>
              </a:rPr>
              <a:t>Application: Personalized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CA" sz="1700" dirty="0"/>
              <a:t>I used the trained MLP as a scoring function for a what-if recommender.</a:t>
            </a:r>
          </a:p>
          <a:p>
            <a:r>
              <a:rPr lang="en-CA" sz="1700" dirty="0"/>
              <a:t>Actionable levers</a:t>
            </a:r>
          </a:p>
          <a:p>
            <a:pPr lvl="1"/>
            <a:r>
              <a:rPr lang="en-CA" sz="1700" dirty="0"/>
              <a:t>Reduce </a:t>
            </a:r>
            <a:r>
              <a:rPr lang="en-CA" sz="1700" dirty="0" err="1"/>
              <a:t>Avg_Daily_Usage_Hours</a:t>
            </a:r>
            <a:r>
              <a:rPr lang="en-CA" sz="1700" dirty="0"/>
              <a:t> (e.g., −0.5 to −2.0 hours/day)</a:t>
            </a:r>
          </a:p>
          <a:p>
            <a:pPr lvl="1"/>
            <a:r>
              <a:rPr lang="en-CA" sz="1700" dirty="0"/>
              <a:t>Increase </a:t>
            </a:r>
            <a:r>
              <a:rPr lang="en-CA" sz="1700" dirty="0" err="1"/>
              <a:t>Sleep_Hours_Per_Night</a:t>
            </a:r>
            <a:r>
              <a:rPr lang="en-CA" sz="1700" dirty="0"/>
              <a:t> (e.g., +0.5 to +1.5 hours/night)</a:t>
            </a:r>
          </a:p>
          <a:p>
            <a:r>
              <a:rPr lang="en-CA" sz="1700" dirty="0"/>
              <a:t>For each candidate adjustment, I re-predicted </a:t>
            </a:r>
            <a:r>
              <a:rPr lang="en-CA" sz="1700" dirty="0" err="1"/>
              <a:t>Mental_Health_Score</a:t>
            </a:r>
            <a:r>
              <a:rPr lang="en-CA" sz="1700" dirty="0"/>
              <a:t>.</a:t>
            </a:r>
          </a:p>
          <a:p>
            <a:r>
              <a:rPr lang="en-CA" sz="1700" dirty="0"/>
              <a:t>Top recommendations are those with the highest predicted improvement.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62E8574-2077-4401-8423-26788589B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031378"/>
              </p:ext>
            </p:extLst>
          </p:nvPr>
        </p:nvGraphicFramePr>
        <p:xfrm>
          <a:off x="4877368" y="649480"/>
          <a:ext cx="3646835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647</Words>
  <Application>Microsoft Office PowerPoint</Application>
  <PresentationFormat>On-screen Show (4:3)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Predicting Student Mental Well-Being from Social Media Habits</vt:lpstr>
      <vt:lpstr>Project Goals</vt:lpstr>
      <vt:lpstr>Motivation</vt:lpstr>
      <vt:lpstr>Dataset Overview</vt:lpstr>
      <vt:lpstr>Data Dictionary</vt:lpstr>
      <vt:lpstr>Exploratory Data Analysis</vt:lpstr>
      <vt:lpstr>Preprocessing</vt:lpstr>
      <vt:lpstr>Models Compared</vt:lpstr>
      <vt:lpstr>Model Comparison Summary</vt:lpstr>
      <vt:lpstr>Application: Personalized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Tobin Kellock</cp:lastModifiedBy>
  <cp:revision>2</cp:revision>
  <dcterms:created xsi:type="dcterms:W3CDTF">2013-01-27T09:14:16Z</dcterms:created>
  <dcterms:modified xsi:type="dcterms:W3CDTF">2025-12-09T04:53:41Z</dcterms:modified>
  <cp:category/>
</cp:coreProperties>
</file>